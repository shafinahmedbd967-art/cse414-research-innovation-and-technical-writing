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(model)</c:v>
                </c:pt>
              </c:strCache>
            </c:strRef>
          </c:tx>
          <c:spPr>
            <a:solidFill>
              <a:srgbClr val="028090"/>
            </a:solidFill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0.38</c:v>
                </c:pt>
                <c:pt idx="2">
                  <c:v>0.55</c:v>
                </c:pt>
                <c:pt idx="3">
                  <c:v>0.68</c:v>
                </c:pt>
                <c:pt idx="4">
                  <c:v>0.78</c:v>
                </c:pt>
                <c:pt idx="5">
                  <c:v>0.875</c:v>
                </c:pt>
                <c:pt idx="6">
                  <c:v>0.89</c:v>
                </c:pt>
                <c:pt idx="7">
                  <c:v>0.92</c:v>
                </c:pt>
                <c:pt idx="8">
                  <c:v>0.945</c:v>
                </c:pt>
                <c:pt idx="9">
                  <c:v>0.97</c:v>
                </c:pt>
                <c:pt idx="1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skill</c:v>
                </c:pt>
              </c:strCache>
            </c:strRef>
          </c:tx>
          <c:spPr>
            <a:solidFill>
              <a:srgbClr val="5B6B72"/>
            </a:solidFill>
            <a:ln w="25400" cap="flat">
              <a:solidFill>
                <a:srgbClr val="5B6B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B72"/>
              </a:solidFill>
              <a:ln w="9525" cap="flat">
                <a:solidFill>
                  <a:srgbClr val="5B6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 = 0.50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0.875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72"/>
                    </a:solidFill>
                    <a:latin typeface="Calibri"/>
                  </a:defRPr>
                </a:pPr>
                <a:r>
                  <a:rPr sz="1050" b="0" i="0" u="none" strike="noStrike">
                    <a:solidFill>
                      <a:srgbClr val="5B6B72"/>
                    </a:solidFill>
                    <a:latin typeface="Calibri"/>
                  </a:rPr>
                  <a:t>False Positive Rate (FPR)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D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9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72"/>
                    </a:solidFill>
                    <a:latin typeface="Calibri"/>
                  </a:defRPr>
                </a:pPr>
                <a:r>
                  <a:rPr sz="1050" b="0" i="0" u="none" strike="noStrike">
                    <a:solidFill>
                      <a:srgbClr val="5B6B72"/>
                    </a:solidFill>
                    <a:latin typeface="Calibri"/>
                  </a:rPr>
                  <a:t>True Positive Rate (TPR)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D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Confusion Matrix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 classifier by comparing predicted vs. actual labels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39903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\ Predicted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508760" y="1399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03320" y="1399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63624" y="1883664"/>
            <a:ext cx="2084832" cy="1124712"/>
          </a:xfrm>
          <a:prstGeom prst="roundRect">
            <a:avLst>
              <a:gd name="adj" fmla="val 6504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63624" y="19751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55064" y="23957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73352" y="261518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positive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758184" y="1883664"/>
            <a:ext cx="2084832" cy="1124712"/>
          </a:xfrm>
          <a:prstGeom prst="roundRect">
            <a:avLst>
              <a:gd name="adj" fmla="val 6504"/>
            </a:avLst>
          </a:prstGeom>
          <a:solidFill>
            <a:srgbClr val="C9483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58184" y="19751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49624" y="23957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67912" y="261518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positive (Type II error)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1563624" y="3118104"/>
            <a:ext cx="2084832" cy="1124712"/>
          </a:xfrm>
          <a:prstGeom prst="roundRect">
            <a:avLst>
              <a:gd name="adj" fmla="val 6504"/>
            </a:avLst>
          </a:prstGeom>
          <a:solidFill>
            <a:srgbClr val="C9483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63624" y="320954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55064" y="363016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73352" y="384962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flagged positive (Type I error)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758184" y="3118104"/>
            <a:ext cx="2084832" cy="1124712"/>
          </a:xfrm>
          <a:prstGeom prst="roundRect">
            <a:avLst>
              <a:gd name="adj" fmla="val 6504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58184" y="320954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9624" y="363016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67912" y="384962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negative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57200" y="449884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7F7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590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8368" y="4882896"/>
            <a:ext cx="5038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informative than accuracy alone on imbalanced datasets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which errors a model makes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right metric to prioritize — e.g. recall for disease detection, precision for spam filtering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46520" y="141732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4F7F7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1490472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47688" y="1737360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 + TN) / (TP + TN + FP + FN)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47688" y="1993392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 predictions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46520" y="2441448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7688" y="2514600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647688" y="2761488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47688" y="3017520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are truly positive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3465576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4F7F7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7688" y="3538728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(Sensitivity)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647688" y="3785616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47688" y="4041648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were correctly identified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4489704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47688" y="4562856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647688" y="4809744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 / (TN + FP)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47688" y="5065776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negatives, how many were correctly identified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46520" y="5513832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F4F7F7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7688" y="5586984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647688" y="5833872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(Precision × Recall) / (Precision + Recall)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47688" y="6089904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balance of precision and recall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 &amp; AUC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 classifier separates the two classes across every possible threshold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703320" y="1481328"/>
            <a:ext cx="292608" cy="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0" y="13990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(model)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74920" y="1481328"/>
            <a:ext cx="292608" cy="0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394960" y="13990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skill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618488"/>
          <a:ext cx="5577840" cy="3364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1206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5212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30352" y="5742432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— fair separation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286000" y="512064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4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2487168" y="524865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 t = 0.50: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true-positive rate is 87.5% and false-positive rate is 50%.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87168" y="5724144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AUROC of 0.75 indicates useful, above-random class separation.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55080" y="1417320"/>
            <a:ext cx="5394960" cy="1170432"/>
          </a:xfrm>
          <a:prstGeom prst="roundRect">
            <a:avLst>
              <a:gd name="adj" fmla="val 5469"/>
            </a:avLst>
          </a:prstGeom>
          <a:solidFill>
            <a:srgbClr val="F4F7F7"/>
          </a:solidFill>
          <a:ln/>
        </p:spPr>
      </p:sp>
      <p:sp>
        <p:nvSpPr>
          <p:cNvPr id="16" name="Text 13"/>
          <p:cNvSpPr/>
          <p:nvPr/>
        </p:nvSpPr>
        <p:spPr>
          <a:xfrm>
            <a:off x="6556248" y="150876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Plotted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556248" y="1783080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— False Positive Rate:  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 = FP / (FP + TN)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— True Positive Rate (Recall):  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TPR = TP / (TP + FN)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55080" y="2724912"/>
            <a:ext cx="539496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9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56248" y="281635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Curve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556248" y="3090672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the top-left corner → better performance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diagonal → random guessing, no discrimination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Farther above the diagonal → stronger model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55080" y="4032504"/>
            <a:ext cx="5394960" cy="2395728"/>
          </a:xfrm>
          <a:prstGeom prst="roundRect">
            <a:avLst>
              <a:gd name="adj" fmla="val 2672"/>
            </a:avLst>
          </a:prstGeom>
          <a:solidFill>
            <a:srgbClr val="F4F7F7"/>
          </a:solidFill>
          <a:ln/>
        </p:spPr>
      </p:sp>
      <p:sp>
        <p:nvSpPr>
          <p:cNvPr id="22" name="Text 19"/>
          <p:cNvSpPr/>
          <p:nvPr/>
        </p:nvSpPr>
        <p:spPr>
          <a:xfrm>
            <a:off x="6556248" y="4123944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Interpretation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574536" y="4466844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1"/>
          <p:cNvSpPr/>
          <p:nvPr/>
        </p:nvSpPr>
        <p:spPr>
          <a:xfrm>
            <a:off x="6775704" y="43982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046720" y="43982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classifier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574536" y="473659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4"/>
          <p:cNvSpPr/>
          <p:nvPr/>
        </p:nvSpPr>
        <p:spPr>
          <a:xfrm>
            <a:off x="6775704" y="46680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0.90–0.99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046720" y="46680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74536" y="5006340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7"/>
          <p:cNvSpPr/>
          <p:nvPr/>
        </p:nvSpPr>
        <p:spPr>
          <a:xfrm>
            <a:off x="6775704" y="4937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0.80–0.89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4937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574536" y="5276088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3" name="Text 30"/>
          <p:cNvSpPr/>
          <p:nvPr/>
        </p:nvSpPr>
        <p:spPr>
          <a:xfrm>
            <a:off x="6775704" y="52075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0.70–0.79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046720" y="52075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574536" y="554583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3"/>
          <p:cNvSpPr/>
          <p:nvPr/>
        </p:nvSpPr>
        <p:spPr>
          <a:xfrm>
            <a:off x="6775704" y="5477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0.60–0.69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046720" y="54772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574536" y="5815584"/>
            <a:ext cx="100584" cy="100584"/>
          </a:xfrm>
          <a:prstGeom prst="ellipse">
            <a:avLst/>
          </a:prstGeom>
          <a:solidFill>
            <a:srgbClr val="C9483A"/>
          </a:solidFill>
          <a:ln/>
        </p:spPr>
      </p:sp>
      <p:sp>
        <p:nvSpPr>
          <p:cNvPr id="39" name="Text 36"/>
          <p:cNvSpPr/>
          <p:nvPr/>
        </p:nvSpPr>
        <p:spPr>
          <a:xfrm>
            <a:off x="6775704" y="57470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046720" y="57470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guessing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574536" y="6085332"/>
            <a:ext cx="100584" cy="100584"/>
          </a:xfrm>
          <a:prstGeom prst="ellipse">
            <a:avLst/>
          </a:prstGeom>
          <a:solidFill>
            <a:srgbClr val="C9483A"/>
          </a:solidFill>
          <a:ln/>
        </p:spPr>
      </p:sp>
      <p:sp>
        <p:nvSpPr>
          <p:cNvPr id="42" name="Text 39"/>
          <p:cNvSpPr/>
          <p:nvPr/>
        </p:nvSpPr>
        <p:spPr>
          <a:xfrm>
            <a:off x="6775704" y="60167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0.50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046720" y="60167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random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2026-08-01T06:47:12Z</dcterms:created>
  <dcterms:modified xsi:type="dcterms:W3CDTF">2026-08-01T06:47:12Z</dcterms:modified>
</cp:coreProperties>
</file>