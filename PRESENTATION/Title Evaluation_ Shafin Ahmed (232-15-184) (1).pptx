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gVGEHl3qxH9pB9HUEouTtVU/fq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Good morning everyone.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 am </a:t>
            </a:r>
            <a:r>
              <a:rPr b="1" lang="en">
                <a:solidFill>
                  <a:schemeClr val="dk1"/>
                </a:solidFill>
              </a:rPr>
              <a:t>Shafin Ahmed</a:t>
            </a:r>
            <a:r>
              <a:rPr lang="en">
                <a:solidFill>
                  <a:schemeClr val="dk1"/>
                </a:solidFill>
              </a:rPr>
              <a:t>, and today I am presenting my thesis title evaluation.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My proposed title is </a:t>
            </a:r>
            <a:r>
              <a:rPr b="1" lang="en">
                <a:solidFill>
                  <a:schemeClr val="dk1"/>
                </a:solidFill>
              </a:rPr>
              <a:t>“An Explainable AI Framework for Cricket Batsman Strength-Weakness Zone Detection and Multi-Option Bowling Strategy Recommendation.”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main idea of this research is to use explainable AI to understand a batsman’s strengths and weaknesses and then turn that analysis into practical bowling strategies.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7" name="Google Shape;25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/>
          <p:nvPr/>
        </p:nvSpPr>
        <p:spPr>
          <a:xfrm>
            <a:off x="2819400" y="0"/>
            <a:ext cx="6324600" cy="514350"/>
          </a:xfrm>
          <a:prstGeom prst="rect">
            <a:avLst/>
          </a:prstGeom>
          <a:solidFill>
            <a:srgbClr val="205867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 Phase Evaluation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538" y="60723"/>
            <a:ext cx="2176462" cy="43100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6"/>
          <p:cNvSpPr/>
          <p:nvPr/>
        </p:nvSpPr>
        <p:spPr>
          <a:xfrm>
            <a:off x="685800" y="2400300"/>
            <a:ext cx="3810000" cy="4000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6"/>
          <p:cNvSpPr/>
          <p:nvPr/>
        </p:nvSpPr>
        <p:spPr>
          <a:xfrm>
            <a:off x="4800600" y="2400300"/>
            <a:ext cx="3962400" cy="40005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Supervised by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857250"/>
            <a:ext cx="77724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3300"/>
              <a:buFont typeface="Calibri"/>
              <a:buNone/>
              <a:defRPr b="1">
                <a:solidFill>
                  <a:srgbClr val="1736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685800" y="2914650"/>
            <a:ext cx="3886200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ts val="2000"/>
              <a:buNone/>
              <a:defRPr sz="2000">
                <a:solidFill>
                  <a:srgbClr val="366092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2" type="body"/>
          </p:nvPr>
        </p:nvSpPr>
        <p:spPr>
          <a:xfrm>
            <a:off x="4800600" y="2914650"/>
            <a:ext cx="3962400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70C0"/>
              </a:buClr>
              <a:buSzPts val="2000"/>
              <a:buNone/>
              <a:defRPr sz="2000">
                <a:solidFill>
                  <a:srgbClr val="0070C0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/>
        </p:nvSpPr>
        <p:spPr>
          <a:xfrm>
            <a:off x="1752601" y="4457700"/>
            <a:ext cx="7381875" cy="2857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Final Year Defense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7"/>
          <p:cNvSpPr/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300"/>
              <a:buFont typeface="Calibri"/>
              <a:buNone/>
              <a:defRPr b="1">
                <a:solidFill>
                  <a:srgbClr val="36609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66092"/>
              </a:buClr>
              <a:buSzPts val="2400"/>
              <a:buChar char="•"/>
              <a:defRPr>
                <a:solidFill>
                  <a:srgbClr val="366092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1859B"/>
              </a:buClr>
              <a:buSzPts val="2100"/>
              <a:buChar char="–"/>
              <a:defRPr>
                <a:solidFill>
                  <a:srgbClr val="31859B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53734"/>
              </a:buClr>
              <a:buSzPts val="1800"/>
              <a:buChar char="•"/>
              <a:defRPr>
                <a:solidFill>
                  <a:srgbClr val="953734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6C09"/>
              </a:buClr>
              <a:buSzPts val="1500"/>
              <a:buChar char="–"/>
              <a:defRPr>
                <a:solidFill>
                  <a:srgbClr val="E36C09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463884"/>
            <a:ext cx="1154113" cy="308371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/>
          <p:nvPr/>
        </p:nvSpPr>
        <p:spPr>
          <a:xfrm>
            <a:off x="1752601" y="4457700"/>
            <a:ext cx="7381875" cy="2857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 Phase Evaluation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4" name="Google Shape;54;p21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62" name="Google Shape;62;p22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3" name="Google Shape;63;p22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5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9" name="Google Shape;79;p25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0" name="Google Shape;80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6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6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87" name="Google Shape;87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8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601" y="4457700"/>
            <a:ext cx="1154113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9"/>
          <p:cNvSpPr/>
          <p:nvPr/>
        </p:nvSpPr>
        <p:spPr>
          <a:xfrm>
            <a:off x="1752601" y="4457700"/>
            <a:ext cx="7381875" cy="2857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 Phase Evaluation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9"/>
          <p:cNvSpPr/>
          <p:nvPr/>
        </p:nvSpPr>
        <p:spPr>
          <a:xfrm>
            <a:off x="0" y="0"/>
            <a:ext cx="9144000" cy="1714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300"/>
              <a:buFont typeface="Calibri"/>
              <a:buNone/>
              <a:defRPr b="1">
                <a:solidFill>
                  <a:srgbClr val="36609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9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66092"/>
              </a:buClr>
              <a:buSzPts val="2400"/>
              <a:buChar char="•"/>
              <a:defRPr>
                <a:solidFill>
                  <a:srgbClr val="366092"/>
                </a:solidFill>
              </a:defRPr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1859B"/>
              </a:buClr>
              <a:buSzPts val="2100"/>
              <a:buChar char="–"/>
              <a:defRPr>
                <a:solidFill>
                  <a:srgbClr val="31859B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53734"/>
              </a:buClr>
              <a:buSzPts val="1800"/>
              <a:buChar char="•"/>
              <a:defRPr>
                <a:solidFill>
                  <a:srgbClr val="953734"/>
                </a:solidFill>
              </a:defRPr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E36C09"/>
              </a:buClr>
              <a:buSzPts val="1500"/>
              <a:buChar char="–"/>
              <a:defRPr>
                <a:solidFill>
                  <a:srgbClr val="E36C09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" name="Google Shape;117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0" name="Google Shape;14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4" name="Google Shape;144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5" name="Google Shape;145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9" name="Google Shape;14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2" name="Google Shape;152;p4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hyperlink" Target="https://arxiv.org/abs/2311.06818" TargetMode="External"/><Relationship Id="rId10" Type="http://schemas.openxmlformats.org/officeDocument/2006/relationships/hyperlink" Target="https://arxiv.org/abs/1804.04226" TargetMode="External"/><Relationship Id="rId12" Type="http://schemas.openxmlformats.org/officeDocument/2006/relationships/hyperlink" Target="https://arxiv.org/abs/2311.06818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ieeexplore.ieee.org/document/9318089/" TargetMode="External"/><Relationship Id="rId4" Type="http://schemas.openxmlformats.org/officeDocument/2006/relationships/hyperlink" Target="https://ieeexplore.ieee.org/document/9318089/" TargetMode="External"/><Relationship Id="rId9" Type="http://schemas.openxmlformats.org/officeDocument/2006/relationships/hyperlink" Target="https://arxiv.org/abs/1804.04226" TargetMode="External"/><Relationship Id="rId5" Type="http://schemas.openxmlformats.org/officeDocument/2006/relationships/hyperlink" Target="https://dtai.cs.kuleuven.be/events/MLSA21/papers/MLSA21_paper_behera.pdf" TargetMode="External"/><Relationship Id="rId6" Type="http://schemas.openxmlformats.org/officeDocument/2006/relationships/hyperlink" Target="https://dtai.cs.kuleuven.be/events/MLSA21/papers/MLSA21_paper_behera.pdf" TargetMode="External"/><Relationship Id="rId7" Type="http://schemas.openxmlformats.org/officeDocument/2006/relationships/hyperlink" Target="https://arxiv.org/abs/2011.02122" TargetMode="External"/><Relationship Id="rId8" Type="http://schemas.openxmlformats.org/officeDocument/2006/relationships/hyperlink" Target="https://arxiv.org/abs/2011.02122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"/>
          <p:cNvSpPr txBox="1"/>
          <p:nvPr>
            <p:ph type="ctrTitle"/>
          </p:nvPr>
        </p:nvSpPr>
        <p:spPr>
          <a:xfrm>
            <a:off x="721600" y="914400"/>
            <a:ext cx="8013000" cy="10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700"/>
              <a:buFont typeface="Calibri"/>
              <a:buNone/>
            </a:pPr>
            <a:r>
              <a:rPr lang="en" sz="23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An Explainable AI Framework for Cricket Batsman Strength-Weakness Zone Detection and Multi-Option Bowling Strategy Recommendation </a:t>
            </a:r>
            <a:endParaRPr sz="257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"/>
          <p:cNvSpPr txBox="1"/>
          <p:nvPr>
            <p:ph idx="1" type="subTitle"/>
          </p:nvPr>
        </p:nvSpPr>
        <p:spPr>
          <a:xfrm>
            <a:off x="857250" y="2848074"/>
            <a:ext cx="342900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273"/>
              <a:buNone/>
            </a:pPr>
            <a:r>
              <a:rPr b="1" lang="en" sz="7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Shafin Ahmed </a:t>
            </a:r>
            <a:endParaRPr sz="7700"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7273"/>
              <a:buNone/>
            </a:pPr>
            <a:r>
              <a:rPr lang="en" sz="7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232-15-184</a:t>
            </a:r>
            <a:endParaRPr sz="7700"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7273"/>
              <a:buNone/>
            </a:pPr>
            <a:r>
              <a:rPr lang="en" sz="7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 </a:t>
            </a:r>
            <a:endParaRPr sz="7700"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7273"/>
              <a:buNone/>
            </a:pPr>
            <a:r>
              <a:rPr lang="en" sz="7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Daffodil International University</a:t>
            </a:r>
            <a:endParaRPr sz="7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66092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62" name="Google Shape;162;p1"/>
          <p:cNvSpPr txBox="1"/>
          <p:nvPr>
            <p:ph idx="2" type="body"/>
          </p:nvPr>
        </p:nvSpPr>
        <p:spPr>
          <a:xfrm>
            <a:off x="5029200" y="2848074"/>
            <a:ext cx="36004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Times New Roman"/>
                <a:ea typeface="Times New Roman"/>
                <a:cs typeface="Times New Roman"/>
                <a:sym typeface="Times New Roman"/>
              </a:rPr>
              <a:t>Dr. S.M Aminul Haque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Professor and Associate Head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Daffodil International University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"/>
          <p:cNvSpPr txBox="1"/>
          <p:nvPr>
            <p:ph type="title"/>
          </p:nvPr>
        </p:nvSpPr>
        <p:spPr>
          <a:xfrm>
            <a:off x="1485900" y="205978"/>
            <a:ext cx="61722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168" name="Google Shape;168;p2"/>
          <p:cNvSpPr txBox="1"/>
          <p:nvPr>
            <p:ph idx="1" type="body"/>
          </p:nvPr>
        </p:nvSpPr>
        <p:spPr>
          <a:xfrm>
            <a:off x="457200" y="1257300"/>
            <a:ext cx="8086800" cy="28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XAI-based system for ball-by-ball batsman analysis.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strong zones and weak zones automatically.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vulnerabilities across different match situations.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some bowling strategy recommendations.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SHAP for transparent and explainable predictions.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fully data-driven system that works for any batsman.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54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66092"/>
              </a:buClr>
              <a:buSzPts val="2300"/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"/>
          <p:cNvSpPr txBox="1"/>
          <p:nvPr/>
        </p:nvSpPr>
        <p:spPr>
          <a:xfrm>
            <a:off x="6743700" y="4000500"/>
            <a:ext cx="685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/>
          <p:nvPr>
            <p:ph type="title"/>
          </p:nvPr>
        </p:nvSpPr>
        <p:spPr>
          <a:xfrm>
            <a:off x="1485900" y="205978"/>
            <a:ext cx="61722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176" name="Google Shape;176;p3"/>
          <p:cNvSpPr txBox="1"/>
          <p:nvPr>
            <p:ph idx="1" type="body"/>
          </p:nvPr>
        </p:nvSpPr>
        <p:spPr>
          <a:xfrm>
            <a:off x="524925" y="1219200"/>
            <a:ext cx="7746600" cy="24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Cricket is becoming increasingly data-driven.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Batsman analysis is still mostly manual and subjective.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Video-based analysis is time-consuming.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analysts may reach different conclusions.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"/>
          <p:cNvSpPr txBox="1"/>
          <p:nvPr/>
        </p:nvSpPr>
        <p:spPr>
          <a:xfrm>
            <a:off x="6743700" y="4000500"/>
            <a:ext cx="68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 txBox="1"/>
          <p:nvPr>
            <p:ph type="title"/>
          </p:nvPr>
        </p:nvSpPr>
        <p:spPr>
          <a:xfrm>
            <a:off x="1485900" y="205978"/>
            <a:ext cx="61722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184" name="Google Shape;184;p4"/>
          <p:cNvSpPr txBox="1"/>
          <p:nvPr>
            <p:ph idx="1" type="body"/>
          </p:nvPr>
        </p:nvSpPr>
        <p:spPr>
          <a:xfrm>
            <a:off x="457200" y="1257300"/>
            <a:ext cx="82296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286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AI tools often act as black boxes.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single system combines analysis, explainability, and strategy.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provides an integrated XAI framework.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analysts with faster, data-driven decisions.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Aims to improve bowling strategy and match outcomes.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6743700" y="4000500"/>
            <a:ext cx="685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1485900" y="205978"/>
            <a:ext cx="61722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192" name="Google Shape;192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6743700" y="4000500"/>
            <a:ext cx="685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Rauf et al. [1]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Text mining for batting strength and weakness analysis.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Behera &amp; Saradhi [2]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Rule-based player strength and weakness detection.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Chakwate &amp; Madhan [3]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LSTM model using ball-by-ball data for match prediction.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None combine explainability, complete player profiling, and bowling strategy in a single framework.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"/>
          <p:cNvSpPr txBox="1"/>
          <p:nvPr>
            <p:ph type="title"/>
          </p:nvPr>
        </p:nvSpPr>
        <p:spPr>
          <a:xfrm>
            <a:off x="1485900" y="205978"/>
            <a:ext cx="61722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00" name="Google Shape;200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6743700" y="4000500"/>
            <a:ext cx="68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Passi &amp; Pandey [4]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ML models for player performance prediction.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Behera &amp; Saradhi [5]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Large-scale batsman profiling using text commentary.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Shah &amp; Shah [6]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Pressure index showing match situations affect player performance.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Saikia et al. [7]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ANN-based bowler performance prediction.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Existing studies lack an integrated framework for explainable batsman profiling and bowling strategy generation.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/>
          <p:nvPr>
            <p:ph type="title"/>
          </p:nvPr>
        </p:nvSpPr>
        <p:spPr>
          <a:xfrm>
            <a:off x="1485900" y="205978"/>
            <a:ext cx="6172200" cy="6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Study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08" name="Google Shape;208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6743700" y="4000500"/>
            <a:ext cx="68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57275"/>
            <a:ext cx="8125676" cy="35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1485900" y="205978"/>
            <a:ext cx="61722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17" name="Google Shape;217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8"/>
          <p:cNvSpPr txBox="1"/>
          <p:nvPr/>
        </p:nvSpPr>
        <p:spPr>
          <a:xfrm>
            <a:off x="6743700" y="4000500"/>
            <a:ext cx="685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 txBox="1"/>
          <p:nvPr>
            <p:ph idx="1" type="body"/>
          </p:nvPr>
        </p:nvSpPr>
        <p:spPr>
          <a:xfrm>
            <a:off x="457200" y="1257300"/>
            <a:ext cx="8009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studies rely on text or video data instead of structured ball-by-ball data.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AI models lack explainability (XAI).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systems do not provide bowling strategy recommendations.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tools depend on pre-existing player databases.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framework addresses all these gaps in one integrated system.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"/>
          <p:cNvSpPr txBox="1"/>
          <p:nvPr>
            <p:ph type="title"/>
          </p:nvPr>
        </p:nvSpPr>
        <p:spPr>
          <a:xfrm>
            <a:off x="1485900" y="0"/>
            <a:ext cx="61722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25" name="Google Shape;225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9"/>
          <p:cNvSpPr txBox="1"/>
          <p:nvPr/>
        </p:nvSpPr>
        <p:spPr>
          <a:xfrm>
            <a:off x="6743700" y="4000500"/>
            <a:ext cx="685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 txBox="1"/>
          <p:nvPr>
            <p:ph idx="1" type="body"/>
          </p:nvPr>
        </p:nvSpPr>
        <p:spPr>
          <a:xfrm>
            <a:off x="457200" y="857100"/>
            <a:ext cx="8229600" cy="3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152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Collection, Data Analysis &amp; Workflow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→ Cricsheet + ESPNcricinfo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→ Missing values &amp; duplicates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→ Cricket-specific metrics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→ RF, XGBoost, LightGBM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 → Explain predictions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 → Four bowling plans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→ Accuracy, Precision, Recall, F1, ROC-AUC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t/>
            </a:r>
            <a:endParaRPr sz="1800"/>
          </a:p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8" name="Google Shape;228;p9"/>
          <p:cNvSpPr txBox="1"/>
          <p:nvPr/>
        </p:nvSpPr>
        <p:spPr>
          <a:xfrm>
            <a:off x="1805600" y="3820675"/>
            <a:ext cx="52521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/>
          <p:nvPr>
            <p:ph type="title"/>
          </p:nvPr>
        </p:nvSpPr>
        <p:spPr>
          <a:xfrm>
            <a:off x="1485900" y="0"/>
            <a:ext cx="6172200" cy="8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34" name="Google Shape;234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10"/>
          <p:cNvSpPr txBox="1"/>
          <p:nvPr/>
        </p:nvSpPr>
        <p:spPr>
          <a:xfrm>
            <a:off x="6743700" y="4000500"/>
            <a:ext cx="68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37" name="Google Shape;237;p10"/>
          <p:cNvPicPr preferRelativeResize="0"/>
          <p:nvPr/>
        </p:nvPicPr>
        <p:blipFill rotWithShape="1">
          <a:blip r:embed="rId3">
            <a:alphaModFix/>
          </a:blip>
          <a:srcRect b="17136" l="0" r="0" t="0"/>
          <a:stretch/>
        </p:blipFill>
        <p:spPr>
          <a:xfrm>
            <a:off x="310075" y="703125"/>
            <a:ext cx="8423424" cy="3607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0"/>
          <p:cNvSpPr txBox="1"/>
          <p:nvPr/>
        </p:nvSpPr>
        <p:spPr>
          <a:xfrm>
            <a:off x="1805600" y="3820675"/>
            <a:ext cx="52521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Workflow Diagram of Cricket Bowling Strategy Analytics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1485900" y="205978"/>
            <a:ext cx="61722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44" name="Google Shape;244;p11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15900" lvl="0" marL="254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ML model to identify batter's strong &amp; weak zones from ball-by-ball data.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SHAP-based Explainable AI module with human-readable explanations.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Bowling strategy engine generating four alternative bowling plans.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Streamlit dashboard with heatmaps, zone maps, phase-wise analysis, SHAP charts, and strategy recommendations.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15900" lvl="0" marL="254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❖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 prepared for submission to an AI or sports analytics conference/journal.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6743700" y="4000500"/>
            <a:ext cx="685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1485900" y="205978"/>
            <a:ext cx="61722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52" name="Google Shape;252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12"/>
          <p:cNvSpPr txBox="1"/>
          <p:nvPr/>
        </p:nvSpPr>
        <p:spPr>
          <a:xfrm>
            <a:off x="6743700" y="4000500"/>
            <a:ext cx="685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manual and subjective batsman analysis through AI.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identifies strengths, weaknesses.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four actionable bowling strategy recommendations.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SHAP to ensure transparent and explainable decisions.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Fully data-driven and applicable from domestic to international cricket.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❏"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Establishes a foundation for future AI-powered cricket analytics research.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>
            <p:ph type="title"/>
          </p:nvPr>
        </p:nvSpPr>
        <p:spPr>
          <a:xfrm>
            <a:off x="1485900" y="74550"/>
            <a:ext cx="61722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300"/>
              <a:buFont typeface="Times New Roman"/>
              <a:buNone/>
            </a:pPr>
            <a:r>
              <a:rPr lang="en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60" name="Google Shape;260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6743700" y="4000500"/>
            <a:ext cx="685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cont..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 txBox="1"/>
          <p:nvPr>
            <p:ph idx="1" type="body"/>
          </p:nvPr>
        </p:nvSpPr>
        <p:spPr>
          <a:xfrm>
            <a:off x="457200" y="745350"/>
            <a:ext cx="8229600" cy="3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Rauf, M. A., Ahmad, H., Faisal, C. M. N., Ahmad, S., &amp; Habib, M. A. (2020). Extraction of strong and weak regions of cricket batsman through text-commentary analysis.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2020 IEEE 23rd International Multitopic Conference (INMIC)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Bahawalpur, Pakistan, pp. 1–6.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🔗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https://ieeexplore.ieee.org/document/9318089/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Behera, S. R., &amp; Saradhi, V. V. (2021). Learning strength and weakness rules of cricket players.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ECML/PKDD 2021 Workshop on Machine Learning and Data Mining for Sports Analytics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🔗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https://dtai.cs.kuleuven.be/events/MLSA21/papers/MLSA21_paper_behera.pdf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Chakwate, R., &amp; Madhan R, A. (2020). Analysing long short term memory models for cricket match outcome prediction.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arXiv:2011.02122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🔗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https://arxiv.org/abs/2011.02122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Passi, K., &amp; Pandey, N. (2018). Increased prediction accuracy in the game of cricket using machine learning.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arXiv:1804.04226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🔗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https://arxiv.org/abs/1804.04226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5] Behera, S. R., &amp; Saradhi, V. V. (2023). Cricket player profiling: Unraveling strengths and weaknesses using text commentary data. </a:t>
            </a:r>
            <a:r>
              <a:rPr i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 preprint arXiv:2311.06818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🔗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https://arxiv.org/abs/2311.06818</a:t>
            </a:r>
            <a:endParaRPr sz="11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 txBox="1"/>
          <p:nvPr>
            <p:ph type="title"/>
          </p:nvPr>
        </p:nvSpPr>
        <p:spPr>
          <a:xfrm>
            <a:off x="1485900" y="205978"/>
            <a:ext cx="6172200" cy="651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300"/>
              <a:buFont typeface="Calibri"/>
              <a:buNone/>
            </a:pPr>
            <a:r>
              <a:t/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268" name="Google Shape;268;p14"/>
          <p:cNvSpPr txBox="1"/>
          <p:nvPr>
            <p:ph idx="1" type="body"/>
          </p:nvPr>
        </p:nvSpPr>
        <p:spPr>
          <a:xfrm>
            <a:off x="457200" y="1257300"/>
            <a:ext cx="8229600" cy="29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4500"/>
              <a:buNone/>
            </a:pPr>
            <a:r>
              <a:t/>
            </a:r>
            <a:endParaRPr b="1" sz="45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7030A0"/>
              </a:buClr>
              <a:buSzPts val="4500"/>
              <a:buNone/>
            </a:pPr>
            <a:r>
              <a:rPr b="1" lang="en" sz="4500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45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7030A0"/>
              </a:buClr>
              <a:buSzPts val="4500"/>
              <a:buNone/>
            </a:pPr>
            <a:r>
              <a:t/>
            </a:r>
            <a:endParaRPr b="1" sz="4500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66092"/>
              </a:buClr>
              <a:buSzPts val="2300"/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Microsoft PowerPoint Presentatio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